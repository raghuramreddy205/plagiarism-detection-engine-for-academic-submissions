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7283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943600" cy="5943600"/>
          </a:xfrm>
          <a:prstGeom prst="ellipse">
            <a:avLst/>
          </a:prstGeom>
          <a:solidFill>
            <a:srgbClr val="0A2E33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931920"/>
            <a:ext cx="3840480" cy="384048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028090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50" y="8083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1600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PROJECT 3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96596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Plagiarism Detection Engine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Academic Submissions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3703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BF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Rabin-Karp fingerprinting with winnowing, suffix arrays, and LCP-based common-substring extraction for near-duplicate detection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94360" y="4709160"/>
            <a:ext cx="7589520" cy="1600200"/>
          </a:xfrm>
          <a:prstGeom prst="roundRect">
            <a:avLst>
              <a:gd name="adj" fmla="val 5143"/>
            </a:avLst>
          </a:prstGeom>
          <a:solidFill>
            <a:srgbClr val="0A2E33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8680" y="48646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2578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371600" y="52303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Raghuram Reddy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1371600" y="55595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2520090024</a:t>
            </a:r>
            <a:endParaRPr lang="en-US" sz="12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525780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937760" y="52303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Prem Manikanta Reddy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4937760" y="55595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2520090045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16" y="674096"/>
            <a:ext cx="316017" cy="31601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50292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642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blurRad="76200" dist="25400" dir="5400000" algn="bl" rotWithShape="0">
              <a:srgbClr val="0B3D42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68680" y="1627632"/>
            <a:ext cx="10424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an indexing and comparison engine that flags near-duplicate passages across a corpus of student submissions. </a:t>
            </a: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Rabin-Karp rolling-hash fingerprints combined with winnowing </a:t>
            </a:r>
            <a:r>
              <a:rPr lang="en-US" sz="150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cheaply shortlist candidate document pairs from the full corpus. Each shortlisted pair is then compared exactly: a </a:t>
            </a: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array with its LCP (Kasai) array </a:t>
            </a:r>
            <a:r>
              <a:rPr lang="en-US" sz="150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every maximal common substring above a chosen length threshold. The engine outputs a side-by-side highlighted report with a numeric similarity score, validated against a hand-labelled set for false-positive analysis.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4023360"/>
            <a:ext cx="3529584" cy="2148840"/>
          </a:xfrm>
          <a:prstGeom prst="roundRect">
            <a:avLst>
              <a:gd name="adj" fmla="val 3404"/>
            </a:avLst>
          </a:prstGeom>
          <a:solidFill>
            <a:srgbClr val="0B3D42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279392"/>
            <a:ext cx="502920" cy="5029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04672" y="4892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2-Stage</a:t>
            </a:r>
            <a:endParaRPr lang="en-US" sz="2700" dirty="0"/>
          </a:p>
        </p:txBody>
      </p:sp>
      <p:sp>
        <p:nvSpPr>
          <p:cNvPr id="10" name="Text 6"/>
          <p:cNvSpPr txBox="1"/>
          <p:nvPr/>
        </p:nvSpPr>
        <p:spPr>
          <a:xfrm>
            <a:off x="804672" y="546811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F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shortlist, then exact compare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334256" y="4023360"/>
            <a:ext cx="3529584" cy="2148840"/>
          </a:xfrm>
          <a:prstGeom prst="roundRect">
            <a:avLst>
              <a:gd name="adj" fmla="val 3404"/>
            </a:avLst>
          </a:prstGeom>
          <a:solidFill>
            <a:srgbClr val="0B3D4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0288" y="4279392"/>
            <a:ext cx="502920" cy="5029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590288" y="4892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O(n)</a:t>
            </a:r>
            <a:endParaRPr lang="en-US" sz="2700" dirty="0"/>
          </a:p>
        </p:txBody>
      </p:sp>
      <p:sp>
        <p:nvSpPr>
          <p:cNvPr id="14" name="Text 9"/>
          <p:cNvSpPr txBox="1"/>
          <p:nvPr/>
        </p:nvSpPr>
        <p:spPr>
          <a:xfrm>
            <a:off x="4590288" y="546811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F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Rabin-Karp average-case matching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119872" y="4023360"/>
            <a:ext cx="3529584" cy="2148840"/>
          </a:xfrm>
          <a:prstGeom prst="roundRect">
            <a:avLst>
              <a:gd name="adj" fmla="val 3404"/>
            </a:avLst>
          </a:prstGeom>
          <a:solidFill>
            <a:srgbClr val="0B3D4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5904" y="4279392"/>
            <a:ext cx="502920" cy="5029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375904" y="4892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Kasai</a:t>
            </a:r>
            <a:endParaRPr lang="en-US" sz="2700" dirty="0"/>
          </a:p>
        </p:txBody>
      </p:sp>
      <p:sp>
        <p:nvSpPr>
          <p:cNvPr id="18" name="Text 12"/>
          <p:cNvSpPr txBox="1"/>
          <p:nvPr/>
        </p:nvSpPr>
        <p:spPr>
          <a:xfrm>
            <a:off x="8375904" y="546811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F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linear-time LCP extraction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16" y="674096"/>
            <a:ext cx="316017" cy="31601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50292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17320"/>
            <a:ext cx="621792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plagiarism rarely appears as an exact copy — it hides in paraphrased sentences, reordered paragraphs, and passages borrowed across many submissions at once.
</a:t>
            </a:r>
            <a:endParaRPr lang="en-US" sz="14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grader comparing submissions pairwise with naive O(nm) string matching cannot scale to a class, let alone an institution’s archive.
</a:t>
            </a:r>
            <a:endParaRPr lang="en-US" sz="14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the gap the advanced-algorithm canon fills: fingerprinting and hashing make bulk comparison cheap, while suffix structures make exact overlap extraction precise — together they turn plagiarism detection into a tractable, evidence-backed pipeline.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7086600" y="1417320"/>
            <a:ext cx="45262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269480" y="1636776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5901" y="1803197"/>
            <a:ext cx="307238" cy="30723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046720" y="154533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Copy-Paste &amp; Paraphrase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046720" y="1911096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Verbatim copying and reworded text both need detection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7086600" y="2679192"/>
            <a:ext cx="45262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269480" y="2898648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5901" y="3065069"/>
            <a:ext cx="307238" cy="30723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046720" y="280720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Corpus-Scale Comparison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8046720" y="317296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submissions, not just one pair at a time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7086600" y="3941064"/>
            <a:ext cx="45262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269480" y="41605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5901" y="4326941"/>
            <a:ext cx="307238" cy="30723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046720" y="40690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Evidence, Not Guesswork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8046720" y="443484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defensible score with highlighted matching spans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7086600" y="5202936"/>
            <a:ext cx="45262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269480" y="5422392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35901" y="5588813"/>
            <a:ext cx="307238" cy="307238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8046720" y="533095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False Positives</a:t>
            </a:r>
            <a:endParaRPr lang="en-US" sz="1400" dirty="0"/>
          </a:p>
        </p:txBody>
      </p:sp>
      <p:sp>
        <p:nvSpPr>
          <p:cNvPr id="25" name="Text 18"/>
          <p:cNvSpPr txBox="1"/>
          <p:nvPr/>
        </p:nvSpPr>
        <p:spPr>
          <a:xfrm>
            <a:off x="8046720" y="5696712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phrasing and citations should not be flagged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16" y="674096"/>
            <a:ext cx="316017" cy="31601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50292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Requirements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78308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774" y="1937614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77240" y="25146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</a:t>
            </a:r>
            <a:endParaRPr lang="en-US" sz="145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9718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/ Python — core algorithms hand-built, no built-in string-matching or hashing libraries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343400" y="155448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72000" y="178308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6534" y="193761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572000" y="25146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</a:t>
            </a:r>
            <a:endParaRPr lang="en-US" sz="1450" dirty="0"/>
          </a:p>
        </p:txBody>
      </p:sp>
      <p:sp>
        <p:nvSpPr>
          <p:cNvPr id="14" name="Text 9"/>
          <p:cNvSpPr txBox="1"/>
          <p:nvPr/>
        </p:nvSpPr>
        <p:spPr>
          <a:xfrm>
            <a:off x="4572000" y="29718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10/11, Linux, or macOS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8138160" y="155448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366760" y="178308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1294" y="1937614"/>
            <a:ext cx="285293" cy="28529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366760" y="25146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/ Editor</a:t>
            </a:r>
            <a:endParaRPr lang="en-US" sz="1450" dirty="0"/>
          </a:p>
        </p:txBody>
      </p:sp>
      <p:sp>
        <p:nvSpPr>
          <p:cNvPr id="19" name="Text 13"/>
          <p:cNvSpPr txBox="1"/>
          <p:nvPr/>
        </p:nvSpPr>
        <p:spPr>
          <a:xfrm>
            <a:off x="8366760" y="29718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IDEA, VS Code, or Eclipse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48640" y="39319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77240" y="416052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1774" y="4315054"/>
            <a:ext cx="285293" cy="285293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77240" y="48920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450" dirty="0"/>
          </a:p>
        </p:txBody>
      </p:sp>
      <p:sp>
        <p:nvSpPr>
          <p:cNvPr id="24" name="Text 17"/>
          <p:cNvSpPr txBox="1"/>
          <p:nvPr/>
        </p:nvSpPr>
        <p:spPr>
          <a:xfrm>
            <a:off x="777240" y="53492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and GitHub for source management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4343400" y="39319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572000" y="416052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26534" y="4315054"/>
            <a:ext cx="285293" cy="285293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4572000" y="48920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Tools</a:t>
            </a:r>
            <a:endParaRPr lang="en-US" sz="1450" dirty="0"/>
          </a:p>
        </p:txBody>
      </p:sp>
      <p:sp>
        <p:nvSpPr>
          <p:cNvPr id="29" name="Text 21"/>
          <p:cNvSpPr txBox="1"/>
          <p:nvPr/>
        </p:nvSpPr>
        <p:spPr>
          <a:xfrm>
            <a:off x="4572000" y="53492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/ PyTest for unit tests on each algorithm module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8138160" y="39319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8366760" y="416052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21294" y="4315054"/>
            <a:ext cx="285293" cy="285293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8366760" y="48920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Visualization</a:t>
            </a:r>
            <a:endParaRPr lang="en-US" sz="1450" dirty="0"/>
          </a:p>
        </p:txBody>
      </p:sp>
      <p:sp>
        <p:nvSpPr>
          <p:cNvPr id="34" name="Text 25"/>
          <p:cNvSpPr txBox="1"/>
          <p:nvPr/>
        </p:nvSpPr>
        <p:spPr>
          <a:xfrm>
            <a:off x="8366760" y="53492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 templating for the highlighted side-by-side report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16" y="674096"/>
            <a:ext cx="316017" cy="31601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50292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Requirements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49808" y="178308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" y="1961388"/>
            <a:ext cx="329184" cy="3291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91640" y="171907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709160" y="1737360"/>
            <a:ext cx="0" cy="777240"/>
          </a:xfrm>
          <a:prstGeom prst="line">
            <a:avLst/>
          </a:prstGeom>
          <a:noFill/>
          <a:ln w="12700">
            <a:solidFill>
              <a:srgbClr val="DCEDEC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983480" y="1719072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Dual-core 2.0 GHz or higher (quad-core recommended for large corpora)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48640" y="28346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301752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" y="319582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91640" y="295351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4709160" y="2971800"/>
            <a:ext cx="0" cy="777240"/>
          </a:xfrm>
          <a:prstGeom prst="line">
            <a:avLst/>
          </a:prstGeom>
          <a:noFill/>
          <a:ln w="12700">
            <a:solidFill>
              <a:srgbClr val="DCEDEC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4983480" y="2953512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GB minimum, 16 GB recommended for indexing large document sets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548640" y="40690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749808" y="425196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" y="4430268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691640" y="418795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4709160" y="4206240"/>
            <a:ext cx="0" cy="777240"/>
          </a:xfrm>
          <a:prstGeom prst="line">
            <a:avLst/>
          </a:prstGeom>
          <a:noFill/>
          <a:ln w="12700">
            <a:solidFill>
              <a:srgbClr val="DCEDEC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4983480" y="4187952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 GB free space for corpus data, indexes, and generated reports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548640" y="53035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49808" y="548640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" y="5664708"/>
            <a:ext cx="329184" cy="32918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691640" y="542239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600" dirty="0"/>
          </a:p>
        </p:txBody>
      </p:sp>
      <p:sp>
        <p:nvSpPr>
          <p:cNvPr id="27" name="Shape 20"/>
          <p:cNvSpPr/>
          <p:nvPr/>
        </p:nvSpPr>
        <p:spPr>
          <a:xfrm>
            <a:off x="4709160" y="5440680"/>
            <a:ext cx="0" cy="777240"/>
          </a:xfrm>
          <a:prstGeom prst="line">
            <a:avLst/>
          </a:prstGeom>
          <a:noFill/>
          <a:ln w="12700">
            <a:solidFill>
              <a:srgbClr val="DCEDEC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4983480" y="5422392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monitor, 1366x768 or higher, for reviewing highlighted reports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16" y="582656"/>
            <a:ext cx="316017" cy="31601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41148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0B3D42"/>
          </a:solidFill>
          <a:ln/>
        </p:spPr>
      </p:sp>
      <p:sp>
        <p:nvSpPr>
          <p:cNvPr id="6" name="Shape 3"/>
          <p:cNvSpPr/>
          <p:nvPr/>
        </p:nvSpPr>
        <p:spPr>
          <a:xfrm>
            <a:off x="731520" y="16002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15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194560"/>
            <a:ext cx="2203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Indexing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2788920"/>
            <a:ext cx="2203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4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and tokenize all student submissions into a searchable in-memory corpus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3172968" y="235458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355848" y="141732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0B3D42"/>
          </a:solidFill>
          <a:ln/>
        </p:spPr>
      </p:sp>
      <p:sp>
        <p:nvSpPr>
          <p:cNvPr id="12" name="Shape 9"/>
          <p:cNvSpPr/>
          <p:nvPr/>
        </p:nvSpPr>
        <p:spPr>
          <a:xfrm>
            <a:off x="3538728" y="16002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538728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3557016" y="2194560"/>
            <a:ext cx="2203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Rabin-Karp + Winnowing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3557016" y="2788920"/>
            <a:ext cx="2203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4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rolling-hash fingerprints over sliding k-grams; winnowing keeps a sparse, robust minima set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5980176" y="235458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163056" y="141732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0B3D42"/>
          </a:solidFill>
          <a:ln/>
        </p:spPr>
      </p:sp>
      <p:sp>
        <p:nvSpPr>
          <p:cNvPr id="18" name="Shape 15"/>
          <p:cNvSpPr/>
          <p:nvPr/>
        </p:nvSpPr>
        <p:spPr>
          <a:xfrm>
            <a:off x="6345936" y="16002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345936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364224" y="2194560"/>
            <a:ext cx="2203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Shortlisting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6364224" y="2788920"/>
            <a:ext cx="2203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4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fingerprint sets across documents to cheaply flag likely-similar pairs, discarding the rest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8787384" y="235458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8970264" y="141732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0B3D42"/>
          </a:solidFill>
          <a:ln/>
        </p:spPr>
      </p:sp>
      <p:sp>
        <p:nvSpPr>
          <p:cNvPr id="24" name="Shape 21"/>
          <p:cNvSpPr/>
          <p:nvPr/>
        </p:nvSpPr>
        <p:spPr>
          <a:xfrm>
            <a:off x="9153144" y="16002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9153144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9171432" y="2194560"/>
            <a:ext cx="2203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Array Construction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9171432" y="2788920"/>
            <a:ext cx="2203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4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suffix array for each shortlisted pair’s combined text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48640" y="40233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028090"/>
          </a:solidFill>
          <a:ln/>
        </p:spPr>
      </p:sp>
      <p:sp>
        <p:nvSpPr>
          <p:cNvPr id="29" name="Shape 26"/>
          <p:cNvSpPr/>
          <p:nvPr/>
        </p:nvSpPr>
        <p:spPr>
          <a:xfrm>
            <a:off x="731520" y="42062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73152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749808" y="4800600"/>
            <a:ext cx="2203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LCP Extraction (Kasai)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749808" y="5394960"/>
            <a:ext cx="2203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4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Kasai algorithm to get the LCP array in linear time from the suffix array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3172968" y="496062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3355848" y="40233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028090"/>
          </a:solidFill>
          <a:ln/>
        </p:spPr>
      </p:sp>
      <p:sp>
        <p:nvSpPr>
          <p:cNvPr id="35" name="Shape 32"/>
          <p:cNvSpPr/>
          <p:nvPr/>
        </p:nvSpPr>
        <p:spPr>
          <a:xfrm>
            <a:off x="3538728" y="42062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3538728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3557016" y="4800600"/>
            <a:ext cx="2203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Common-Substring Mining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3557016" y="5394960"/>
            <a:ext cx="2203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4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all maximal common substrings whose length exceeds the similarity threshold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5980176" y="496062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6163056" y="40233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028090"/>
          </a:solidFill>
          <a:ln/>
        </p:spPr>
      </p:sp>
      <p:sp>
        <p:nvSpPr>
          <p:cNvPr id="41" name="Shape 38"/>
          <p:cNvSpPr/>
          <p:nvPr/>
        </p:nvSpPr>
        <p:spPr>
          <a:xfrm>
            <a:off x="6345936" y="42062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6345936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6364224" y="4800600"/>
            <a:ext cx="2203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&amp; Report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6364224" y="5394960"/>
            <a:ext cx="2203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4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 similarity score and render a side-by-side highlighted report</a:t>
            </a:r>
            <a:endParaRPr lang="en-US" sz="1000" dirty="0"/>
          </a:p>
        </p:txBody>
      </p:sp>
      <p:sp>
        <p:nvSpPr>
          <p:cNvPr id="45" name="Text 42"/>
          <p:cNvSpPr txBox="1"/>
          <p:nvPr/>
        </p:nvSpPr>
        <p:spPr>
          <a:xfrm>
            <a:off x="8787384" y="496062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8970264" y="40233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028090"/>
          </a:solidFill>
          <a:ln/>
        </p:spPr>
      </p:sp>
      <p:sp>
        <p:nvSpPr>
          <p:cNvPr id="47" name="Shape 44"/>
          <p:cNvSpPr/>
          <p:nvPr/>
        </p:nvSpPr>
        <p:spPr>
          <a:xfrm>
            <a:off x="9153144" y="42062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9153144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49" name="Text 46"/>
          <p:cNvSpPr txBox="1"/>
          <p:nvPr/>
        </p:nvSpPr>
        <p:spPr>
          <a:xfrm>
            <a:off x="9171432" y="4800600"/>
            <a:ext cx="2203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False-Positive Analysis</a:t>
            </a:r>
            <a:endParaRPr lang="en-US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9171432" y="5394960"/>
            <a:ext cx="2203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4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flagged pairs against a hand-labelled ground-truth set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011680"/>
            <a:ext cx="5943600" cy="5943600"/>
          </a:xfrm>
          <a:prstGeom prst="ellipse">
            <a:avLst/>
          </a:prstGeom>
          <a:solidFill>
            <a:srgbClr val="0A2E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474720"/>
            <a:ext cx="4754880" cy="475488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40680" y="1417320"/>
            <a:ext cx="1280160" cy="12801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3522" y="1750162"/>
            <a:ext cx="614477" cy="61447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0" y="2971800"/>
            <a:ext cx="12161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7" name="Text 4"/>
          <p:cNvSpPr txBox="1"/>
          <p:nvPr/>
        </p:nvSpPr>
        <p:spPr>
          <a:xfrm>
            <a:off x="0" y="397764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BF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Plagiarism Detection Engine for Academic Submissions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0" y="466344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Raghuram Reddy  •  2520090024      |      M. Prem Manikanta Reddy  •  2520090045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569</Words>
  <Application>Microsoft Office PowerPoint</Application>
  <PresentationFormat>Widescreen</PresentationFormat>
  <Paragraphs>92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raghuram reddy</cp:lastModifiedBy>
  <cp:revision>1</cp:revision>
  <dcterms:created xsi:type="dcterms:W3CDTF">2026-08-27T07:01:41Z</dcterms:created>
  <dcterms:modified xsi:type="dcterms:W3CDTF">2026-08-27T07:04:13Z</dcterms:modified>
</cp:coreProperties>
</file>